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68653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71450" y="1109681"/>
            <a:ext cx="8801100" cy="3467174"/>
          </a:xfrm>
          <a:prstGeom prst="rect">
            <a:avLst/>
          </a:prstGeom>
          <a:solidFill>
            <a:srgbClr val="000000">
              <a:alpha val="0"/>
            </a:srgbClr>
          </a:solidFill>
          <a:ln w="18288">
            <a:solidFill>
              <a:srgbClr val="000000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00075" y="1531162"/>
            <a:ext cx="6429375" cy="2640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5200"/>
              </a:lnSpc>
              <a:buNone/>
            </a:pPr>
            <a:r>
              <a:rPr lang="en-US" sz="4353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EMPOWERING SMES WITH LOCAL AI-DRIVEN ERP/CRM</a:t>
            </a:r>
            <a:endParaRPr lang="en-US" sz="4353" dirty="0"/>
          </a:p>
        </p:txBody>
      </p:sp>
      <p:sp>
        <p:nvSpPr>
          <p:cNvPr id="5" name="Text 2"/>
          <p:cNvSpPr/>
          <p:nvPr/>
        </p:nvSpPr>
        <p:spPr>
          <a:xfrm>
            <a:off x="600075" y="4314323"/>
            <a:ext cx="8372475" cy="226814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69" spc="2" kern="0" dirty="0">
                <a:solidFill>
                  <a:srgbClr val="1A1A1A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BRIDGING THE AI GAP FOR SMALL BUSINESSES</a:t>
            </a:r>
            <a:endParaRPr lang="en-US" sz="1269" dirty="0"/>
          </a:p>
        </p:txBody>
      </p:sp>
      <p:sp>
        <p:nvSpPr>
          <p:cNvPr id="6" name="Shape 3"/>
          <p:cNvSpPr/>
          <p:nvPr/>
        </p:nvSpPr>
        <p:spPr>
          <a:xfrm>
            <a:off x="28575" y="4684012"/>
            <a:ext cx="9086850" cy="931087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28575" y="4684012"/>
            <a:ext cx="9086850" cy="1428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8" name="Text 5"/>
          <p:cNvSpPr/>
          <p:nvPr/>
        </p:nvSpPr>
        <p:spPr>
          <a:xfrm>
            <a:off x="314325" y="5083476"/>
            <a:ext cx="2732484" cy="132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00000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PRIVACY-FIRST • USER-CENTRIC • PLAIN LANGUAGE</a:t>
            </a:r>
            <a:endParaRPr lang="en-US" sz="727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8575" y="28575"/>
            <a:ext cx="9086850" cy="847706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28575" y="861994"/>
            <a:ext cx="9086850" cy="1428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" name="Text 2"/>
          <p:cNvSpPr/>
          <p:nvPr/>
        </p:nvSpPr>
        <p:spPr>
          <a:xfrm>
            <a:off x="314325" y="386349"/>
            <a:ext cx="6036469" cy="4179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SMES ARE FALLING BEHIND IN AI</a:t>
            </a:r>
            <a:endParaRPr lang="en-US" sz="2436" dirty="0"/>
          </a:p>
        </p:txBody>
      </p:sp>
      <p:sp>
        <p:nvSpPr>
          <p:cNvPr id="6" name="Shape 3"/>
          <p:cNvSpPr/>
          <p:nvPr/>
        </p:nvSpPr>
        <p:spPr>
          <a:xfrm>
            <a:off x="28575" y="876281"/>
            <a:ext cx="4543425" cy="4238644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4557713" y="876281"/>
            <a:ext cx="14288" cy="4238644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8" name="Shape 5"/>
          <p:cNvSpPr/>
          <p:nvPr/>
        </p:nvSpPr>
        <p:spPr>
          <a:xfrm>
            <a:off x="514350" y="1607930"/>
            <a:ext cx="3571875" cy="2500313"/>
          </a:xfrm>
          <a:prstGeom prst="rect">
            <a:avLst/>
          </a:prstGeom>
          <a:solidFill>
            <a:srgbClr val="FFFFFF"/>
          </a:solidFill>
          <a:ln w="18288">
            <a:solidFill>
              <a:srgbClr val="000000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225" y="1750805"/>
            <a:ext cx="3257550" cy="218598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84102" y="4251117"/>
            <a:ext cx="1832372" cy="132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spc="1" kern="0" dirty="0">
                <a:solidFill>
                  <a:srgbClr val="1A1A1A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AI ADOPTION GAP: 55% VS 17%</a:t>
            </a:r>
            <a:endParaRPr lang="en-US" sz="727" dirty="0"/>
          </a:p>
        </p:txBody>
      </p:sp>
      <p:sp>
        <p:nvSpPr>
          <p:cNvPr id="11" name="Shape 7"/>
          <p:cNvSpPr/>
          <p:nvPr/>
        </p:nvSpPr>
        <p:spPr>
          <a:xfrm>
            <a:off x="5057775" y="1607930"/>
            <a:ext cx="3571875" cy="2500313"/>
          </a:xfrm>
          <a:prstGeom prst="rect">
            <a:avLst/>
          </a:prstGeom>
          <a:solidFill>
            <a:srgbClr val="F9F9F9"/>
          </a:solidFill>
          <a:ln w="18288">
            <a:solidFill>
              <a:srgbClr val="000000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7775" y="1607930"/>
            <a:ext cx="3571875" cy="2500313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961459" y="4251117"/>
            <a:ext cx="1764506" cy="132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spc="1" kern="0" dirty="0">
                <a:solidFill>
                  <a:srgbClr val="1A1A1A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THE GROWING DIGITAL DIVIDE</a:t>
            </a:r>
            <a:endParaRPr lang="en-US" sz="727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8575" y="28575"/>
            <a:ext cx="9086850" cy="847706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28575" y="861994"/>
            <a:ext cx="9086850" cy="1428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" name="Text 2"/>
          <p:cNvSpPr/>
          <p:nvPr/>
        </p:nvSpPr>
        <p:spPr>
          <a:xfrm>
            <a:off x="314325" y="386349"/>
            <a:ext cx="5554266" cy="4179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COMPLEXITY KILLS ADOPTION</a:t>
            </a:r>
            <a:endParaRPr lang="en-US" sz="2436" dirty="0"/>
          </a:p>
        </p:txBody>
      </p:sp>
      <p:sp>
        <p:nvSpPr>
          <p:cNvPr id="6" name="Shape 3"/>
          <p:cNvSpPr/>
          <p:nvPr/>
        </p:nvSpPr>
        <p:spPr>
          <a:xfrm>
            <a:off x="28575" y="876281"/>
            <a:ext cx="4543425" cy="4238644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4557713" y="876281"/>
            <a:ext cx="14288" cy="4238644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8" name="Shape 5"/>
          <p:cNvSpPr/>
          <p:nvPr/>
        </p:nvSpPr>
        <p:spPr>
          <a:xfrm>
            <a:off x="457200" y="1936542"/>
            <a:ext cx="3686175" cy="1528763"/>
          </a:xfrm>
          <a:prstGeom prst="rect">
            <a:avLst/>
          </a:prstGeom>
          <a:solidFill>
            <a:srgbClr val="FFFFFF"/>
          </a:solidFill>
          <a:ln w="18288">
            <a:solidFill>
              <a:srgbClr val="00000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00075" y="1807955"/>
            <a:ext cx="264319" cy="69651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5400"/>
              </a:lnSpc>
              <a:buNone/>
            </a:pPr>
            <a:r>
              <a:rPr lang="en-US" sz="4410" dirty="0">
                <a:solidFill>
                  <a:srgbClr val="FF45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\"</a:t>
            </a:r>
            <a:endParaRPr lang="en-US" sz="4410" dirty="0"/>
          </a:p>
        </p:txBody>
      </p:sp>
      <p:sp>
        <p:nvSpPr>
          <p:cNvPr id="10" name="Text 7"/>
          <p:cNvSpPr/>
          <p:nvPr/>
        </p:nvSpPr>
        <p:spPr>
          <a:xfrm>
            <a:off x="671513" y="2165142"/>
            <a:ext cx="3257550" cy="10715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Small business owners are frequently overwhelmed by technical jargon and complex setups. They demand tools that "just work" without technical intervention.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57200" y="3736767"/>
            <a:ext cx="3686175" cy="732234"/>
          </a:xfrm>
          <a:prstGeom prst="rect">
            <a:avLst/>
          </a:prstGeom>
          <a:solidFill>
            <a:srgbClr val="FF4500"/>
          </a:solidFill>
          <a:ln w="18288">
            <a:solidFill>
              <a:srgbClr val="00000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3736767"/>
            <a:ext cx="3686175" cy="732234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"JUST MAKE IT WORK" REQUIREMENT</a:t>
            </a:r>
            <a:endParaRPr lang="en-US" sz="1193" dirty="0"/>
          </a:p>
        </p:txBody>
      </p:sp>
      <p:sp>
        <p:nvSpPr>
          <p:cNvPr id="13" name="Shape 10"/>
          <p:cNvSpPr/>
          <p:nvPr/>
        </p:nvSpPr>
        <p:spPr>
          <a:xfrm>
            <a:off x="4572000" y="876281"/>
            <a:ext cx="4543425" cy="4238644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14" name="Shape 11"/>
          <p:cNvSpPr/>
          <p:nvPr/>
        </p:nvSpPr>
        <p:spPr>
          <a:xfrm>
            <a:off x="4879181" y="1304906"/>
            <a:ext cx="3929063" cy="2857500"/>
          </a:xfrm>
          <a:prstGeom prst="rect">
            <a:avLst/>
          </a:prstGeom>
          <a:solidFill>
            <a:srgbClr val="FFFFFF"/>
          </a:solidFill>
          <a:ln w="27432">
            <a:solidFill>
              <a:srgbClr val="000000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9181" y="1304906"/>
            <a:ext cx="3929063" cy="28575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234583" y="4305281"/>
            <a:ext cx="3218259" cy="132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1A1A1A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Real-world feedback: Users want simplicity, not code.</a:t>
            </a:r>
            <a:endParaRPr lang="en-US" sz="727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8575" y="28575"/>
            <a:ext cx="9086850" cy="847706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28575" y="861994"/>
            <a:ext cx="9086850" cy="1428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" name="Text 2"/>
          <p:cNvSpPr/>
          <p:nvPr/>
        </p:nvSpPr>
        <p:spPr>
          <a:xfrm>
            <a:off x="314325" y="386349"/>
            <a:ext cx="5177433" cy="4179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INTRODUCING BUILD LOCAL</a:t>
            </a:r>
            <a:endParaRPr lang="en-US" sz="2436" dirty="0"/>
          </a:p>
        </p:txBody>
      </p:sp>
      <p:sp>
        <p:nvSpPr>
          <p:cNvPr id="6" name="Shape 3"/>
          <p:cNvSpPr/>
          <p:nvPr/>
        </p:nvSpPr>
        <p:spPr>
          <a:xfrm>
            <a:off x="3500438" y="1523991"/>
            <a:ext cx="2143125" cy="2143125"/>
          </a:xfrm>
          <a:prstGeom prst="rect">
            <a:avLst/>
          </a:prstGeom>
          <a:solidFill>
            <a:srgbClr val="F9F9F9"/>
          </a:solidFill>
          <a:ln w="18288">
            <a:solidFill>
              <a:srgbClr val="000000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7594" y="1631147"/>
            <a:ext cx="1928813" cy="192881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714500" y="3952866"/>
            <a:ext cx="57150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269" dirty="0">
                <a:solidFill>
                  <a:srgbClr val="1A1A1A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Empowering SMEs with a secure, private, and easy-to-use local AI platform for ERP/CRM.</a:t>
            </a:r>
            <a:endParaRPr lang="en-US" sz="1269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8575" y="28575"/>
            <a:ext cx="9086850" cy="847706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28575" y="861994"/>
            <a:ext cx="9086850" cy="1428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" name="Text 2"/>
          <p:cNvSpPr/>
          <p:nvPr/>
        </p:nvSpPr>
        <p:spPr>
          <a:xfrm>
            <a:off x="314325" y="386349"/>
            <a:ext cx="8356402" cy="4179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INTRODUCING THE SME BUSINESS ASSISTANT</a:t>
            </a:r>
            <a:endParaRPr lang="en-US" sz="2436" dirty="0"/>
          </a:p>
        </p:txBody>
      </p:sp>
      <p:sp>
        <p:nvSpPr>
          <p:cNvPr id="6" name="Shape 3"/>
          <p:cNvSpPr/>
          <p:nvPr/>
        </p:nvSpPr>
        <p:spPr>
          <a:xfrm>
            <a:off x="28575" y="876281"/>
            <a:ext cx="9086850" cy="1695469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28575" y="2557463"/>
            <a:ext cx="9086850" cy="1428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1304906"/>
            <a:ext cx="7143750" cy="8229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269" dirty="0">
                <a:solidFill>
                  <a:srgbClr val="1A1A1A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The SME Business Assistant is a local AI solution designed to help business owners set up and manage ERPNext through natural language, ensuring absolute privacy and zero technical friction.</a:t>
            </a:r>
            <a:endParaRPr lang="en-US" sz="1269" dirty="0"/>
          </a:p>
        </p:txBody>
      </p:sp>
      <p:sp>
        <p:nvSpPr>
          <p:cNvPr id="9" name="Shape 6"/>
          <p:cNvSpPr/>
          <p:nvPr/>
        </p:nvSpPr>
        <p:spPr>
          <a:xfrm>
            <a:off x="709910" y="3000375"/>
            <a:ext cx="1651992" cy="344686"/>
          </a:xfrm>
          <a:prstGeom prst="rect">
            <a:avLst/>
          </a:prstGeom>
          <a:solidFill>
            <a:srgbClr val="FF4500"/>
          </a:solidFill>
          <a:ln w="18288">
            <a:solidFill>
              <a:srgbClr val="00000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09910" y="3000375"/>
            <a:ext cx="1651992" cy="344686"/>
          </a:xfrm>
          <a:prstGeom prst="rect">
            <a:avLst/>
          </a:prstGeom>
          <a:noFill/>
          <a:ln/>
        </p:spPr>
        <p:txBody>
          <a:bodyPr wrap="square" lIns="170053" tIns="85090" rIns="170053" bIns="8509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ON-DEVICE INTEL</a:t>
            </a:r>
            <a:endParaRPr lang="en-US" sz="987" dirty="0"/>
          </a:p>
        </p:txBody>
      </p:sp>
      <p:sp>
        <p:nvSpPr>
          <p:cNvPr id="11" name="Text 8"/>
          <p:cNvSpPr/>
          <p:nvPr/>
        </p:nvSpPr>
        <p:spPr>
          <a:xfrm>
            <a:off x="314325" y="3530798"/>
            <a:ext cx="2443163" cy="5572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ON-DEVICE INTELLIGENCE</a:t>
            </a:r>
            <a:endParaRPr lang="en-US" sz="1602" dirty="0"/>
          </a:p>
        </p:txBody>
      </p:sp>
      <p:sp>
        <p:nvSpPr>
          <p:cNvPr id="12" name="Shape 9"/>
          <p:cNvSpPr/>
          <p:nvPr/>
        </p:nvSpPr>
        <p:spPr>
          <a:xfrm>
            <a:off x="3637955" y="3000375"/>
            <a:ext cx="1853803" cy="344686"/>
          </a:xfrm>
          <a:prstGeom prst="rect">
            <a:avLst/>
          </a:prstGeom>
          <a:solidFill>
            <a:srgbClr val="FF4500"/>
          </a:solidFill>
          <a:ln w="18288">
            <a:solidFill>
              <a:srgbClr val="00000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637955" y="3000375"/>
            <a:ext cx="1853803" cy="344686"/>
          </a:xfrm>
          <a:prstGeom prst="rect">
            <a:avLst/>
          </a:prstGeom>
          <a:noFill/>
          <a:ln/>
        </p:spPr>
        <p:txBody>
          <a:bodyPr wrap="square" lIns="170053" tIns="85090" rIns="170053" bIns="8509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 SOVEREIGNTY</a:t>
            </a:r>
            <a:endParaRPr lang="en-US" sz="987" dirty="0"/>
          </a:p>
        </p:txBody>
      </p:sp>
      <p:sp>
        <p:nvSpPr>
          <p:cNvPr id="14" name="Text 11"/>
          <p:cNvSpPr/>
          <p:nvPr/>
        </p:nvSpPr>
        <p:spPr>
          <a:xfrm>
            <a:off x="3343275" y="3530798"/>
            <a:ext cx="2443163" cy="5572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 SOVEREIGNTY</a:t>
            </a:r>
            <a:endParaRPr lang="en-US" sz="1602" dirty="0"/>
          </a:p>
        </p:txBody>
      </p:sp>
      <p:sp>
        <p:nvSpPr>
          <p:cNvPr id="15" name="Shape 12"/>
          <p:cNvSpPr/>
          <p:nvPr/>
        </p:nvSpPr>
        <p:spPr>
          <a:xfrm>
            <a:off x="6852642" y="3000375"/>
            <a:ext cx="1496616" cy="344686"/>
          </a:xfrm>
          <a:prstGeom prst="rect">
            <a:avLst/>
          </a:prstGeom>
          <a:solidFill>
            <a:srgbClr val="FF4500"/>
          </a:solidFill>
          <a:ln w="18288">
            <a:solidFill>
              <a:srgbClr val="00000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852642" y="3000375"/>
            <a:ext cx="1496616" cy="344686"/>
          </a:xfrm>
          <a:prstGeom prst="rect">
            <a:avLst/>
          </a:prstGeom>
          <a:noFill/>
          <a:ln/>
        </p:spPr>
        <p:txBody>
          <a:bodyPr wrap="square" lIns="170053" tIns="85090" rIns="170053" bIns="8509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ZERO FRICTION</a:t>
            </a:r>
            <a:endParaRPr lang="en-US" sz="987" dirty="0"/>
          </a:p>
        </p:txBody>
      </p:sp>
      <p:sp>
        <p:nvSpPr>
          <p:cNvPr id="17" name="Text 14"/>
          <p:cNvSpPr/>
          <p:nvPr/>
        </p:nvSpPr>
        <p:spPr>
          <a:xfrm>
            <a:off x="6654403" y="3530798"/>
            <a:ext cx="1893094" cy="2786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ZERO FRICTION</a:t>
            </a:r>
            <a:endParaRPr lang="en-US" sz="1602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8575" y="28575"/>
            <a:ext cx="9086850" cy="847706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28575" y="861994"/>
            <a:ext cx="9086850" cy="1428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" name="Text 2"/>
          <p:cNvSpPr/>
          <p:nvPr/>
        </p:nvSpPr>
        <p:spPr>
          <a:xfrm>
            <a:off x="314325" y="386349"/>
            <a:ext cx="2580680" cy="4179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ONBOARDING</a:t>
            </a:r>
            <a:endParaRPr lang="en-US" sz="2436" dirty="0"/>
          </a:p>
        </p:txBody>
      </p:sp>
      <p:sp>
        <p:nvSpPr>
          <p:cNvPr id="6" name="Shape 3"/>
          <p:cNvSpPr/>
          <p:nvPr/>
        </p:nvSpPr>
        <p:spPr>
          <a:xfrm>
            <a:off x="1000125" y="1209666"/>
            <a:ext cx="7143750" cy="3571875"/>
          </a:xfrm>
          <a:prstGeom prst="rect">
            <a:avLst/>
          </a:prstGeom>
          <a:solidFill>
            <a:srgbClr val="FFFFFF"/>
          </a:solidFill>
          <a:ln w="27432">
            <a:solidFill>
              <a:srgbClr val="000000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125" y="1209666"/>
            <a:ext cx="7143750" cy="357187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8575" y="28575"/>
            <a:ext cx="9086850" cy="847706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28575" y="861994"/>
            <a:ext cx="9086850" cy="1428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" name="Text 2"/>
          <p:cNvSpPr/>
          <p:nvPr/>
        </p:nvSpPr>
        <p:spPr>
          <a:xfrm>
            <a:off x="314325" y="386349"/>
            <a:ext cx="2580680" cy="4179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ONBOARDING</a:t>
            </a:r>
            <a:endParaRPr lang="en-US" sz="2436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700" y="1238241"/>
            <a:ext cx="7086600" cy="351472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8575" y="28575"/>
            <a:ext cx="9086850" cy="847706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28575" y="861994"/>
            <a:ext cx="9086850" cy="1428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" name="Text 2"/>
          <p:cNvSpPr/>
          <p:nvPr/>
        </p:nvSpPr>
        <p:spPr>
          <a:xfrm>
            <a:off x="314325" y="386349"/>
            <a:ext cx="2580680" cy="4179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ONBOARDING</a:t>
            </a:r>
            <a:endParaRPr lang="en-US" sz="2436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700" y="1238241"/>
            <a:ext cx="7086600" cy="351472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8575" y="28575"/>
            <a:ext cx="9086850" cy="847706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28575" y="861994"/>
            <a:ext cx="9086850" cy="1428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" name="Text 2"/>
          <p:cNvSpPr/>
          <p:nvPr/>
        </p:nvSpPr>
        <p:spPr>
          <a:xfrm>
            <a:off x="314325" y="386349"/>
            <a:ext cx="2580680" cy="4179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ONBOARDING</a:t>
            </a:r>
            <a:endParaRPr lang="en-US" sz="2436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700" y="1238241"/>
            <a:ext cx="7086600" cy="351472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8575" y="28575"/>
            <a:ext cx="9086850" cy="847706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28575" y="861994"/>
            <a:ext cx="9086850" cy="1428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" name="Text 2"/>
          <p:cNvSpPr/>
          <p:nvPr/>
        </p:nvSpPr>
        <p:spPr>
          <a:xfrm>
            <a:off x="314325" y="386349"/>
            <a:ext cx="2580680" cy="4179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ONBOARDING</a:t>
            </a:r>
            <a:endParaRPr lang="en-US" sz="2436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700" y="1238241"/>
            <a:ext cx="7086600" cy="351472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8575" y="28575"/>
            <a:ext cx="9086850" cy="847706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28575" y="861994"/>
            <a:ext cx="9086850" cy="1428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" name="Text 2"/>
          <p:cNvSpPr/>
          <p:nvPr/>
        </p:nvSpPr>
        <p:spPr>
          <a:xfrm>
            <a:off x="314325" y="386349"/>
            <a:ext cx="2580680" cy="4179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ONBOARDING</a:t>
            </a:r>
            <a:endParaRPr lang="en-US" sz="2436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700" y="1238241"/>
            <a:ext cx="7086600" cy="351472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8575" y="28575"/>
            <a:ext cx="9086850" cy="847706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28575" y="861994"/>
            <a:ext cx="9086850" cy="1428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" name="Text 2"/>
          <p:cNvSpPr/>
          <p:nvPr/>
        </p:nvSpPr>
        <p:spPr>
          <a:xfrm>
            <a:off x="314325" y="386349"/>
            <a:ext cx="7474148" cy="4179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MARKET OPPORTUNITY: THE SME AI GAP</a:t>
            </a:r>
            <a:endParaRPr lang="en-US" sz="2436" dirty="0"/>
          </a:p>
        </p:txBody>
      </p:sp>
      <p:sp>
        <p:nvSpPr>
          <p:cNvPr id="6" name="Shape 3"/>
          <p:cNvSpPr/>
          <p:nvPr/>
        </p:nvSpPr>
        <p:spPr>
          <a:xfrm>
            <a:off x="28575" y="876281"/>
            <a:ext cx="3028950" cy="4238644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7" name="Shape 4"/>
          <p:cNvSpPr/>
          <p:nvPr/>
        </p:nvSpPr>
        <p:spPr>
          <a:xfrm>
            <a:off x="3043238" y="876281"/>
            <a:ext cx="14288" cy="4238644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8" name="Shape 5"/>
          <p:cNvSpPr/>
          <p:nvPr/>
        </p:nvSpPr>
        <p:spPr>
          <a:xfrm>
            <a:off x="314325" y="1304906"/>
            <a:ext cx="2457450" cy="953691"/>
          </a:xfrm>
          <a:prstGeom prst="rect">
            <a:avLst/>
          </a:prstGeom>
          <a:solidFill>
            <a:srgbClr val="FFFFFF"/>
          </a:solidFill>
          <a:ln w="18288">
            <a:solidFill>
              <a:srgbClr val="00000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7200" y="1447781"/>
            <a:ext cx="2171700" cy="4179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FF45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400M+</a:t>
            </a:r>
            <a:endParaRPr lang="en-US" sz="2436" dirty="0"/>
          </a:p>
        </p:txBody>
      </p:sp>
      <p:sp>
        <p:nvSpPr>
          <p:cNvPr id="10" name="Text 7"/>
          <p:cNvSpPr/>
          <p:nvPr/>
        </p:nvSpPr>
        <p:spPr>
          <a:xfrm>
            <a:off x="457200" y="1937128"/>
            <a:ext cx="217170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0000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SMES WORLDWIDE</a:t>
            </a:r>
            <a:endParaRPr lang="en-US" sz="784" dirty="0"/>
          </a:p>
        </p:txBody>
      </p:sp>
      <p:sp>
        <p:nvSpPr>
          <p:cNvPr id="11" name="Shape 8"/>
          <p:cNvSpPr/>
          <p:nvPr/>
        </p:nvSpPr>
        <p:spPr>
          <a:xfrm>
            <a:off x="314325" y="2515772"/>
            <a:ext cx="2457450" cy="953691"/>
          </a:xfrm>
          <a:prstGeom prst="rect">
            <a:avLst/>
          </a:prstGeom>
          <a:solidFill>
            <a:srgbClr val="FFFFFF"/>
          </a:solidFill>
          <a:ln w="18288">
            <a:solidFill>
              <a:srgbClr val="00000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2658647"/>
            <a:ext cx="2171700" cy="4179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FF45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83%</a:t>
            </a:r>
            <a:endParaRPr lang="en-US" sz="2436" dirty="0"/>
          </a:p>
        </p:txBody>
      </p:sp>
      <p:sp>
        <p:nvSpPr>
          <p:cNvPr id="13" name="Text 10"/>
          <p:cNvSpPr/>
          <p:nvPr/>
        </p:nvSpPr>
        <p:spPr>
          <a:xfrm>
            <a:off x="457200" y="3147994"/>
            <a:ext cx="217170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0000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UNTAPPED AI MARKET</a:t>
            </a:r>
            <a:endParaRPr lang="en-US" sz="784" dirty="0"/>
          </a:p>
        </p:txBody>
      </p:sp>
      <p:sp>
        <p:nvSpPr>
          <p:cNvPr id="14" name="Text 11"/>
          <p:cNvSpPr/>
          <p:nvPr/>
        </p:nvSpPr>
        <p:spPr>
          <a:xfrm>
            <a:off x="3486150" y="1304906"/>
            <a:ext cx="5200650" cy="242888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MISSING LINK</a:t>
            </a:r>
            <a:endParaRPr lang="en-US" sz="1397" dirty="0"/>
          </a:p>
        </p:txBody>
      </p:sp>
      <p:sp>
        <p:nvSpPr>
          <p:cNvPr id="15" name="Text 12"/>
          <p:cNvSpPr/>
          <p:nvPr/>
        </p:nvSpPr>
        <p:spPr>
          <a:xfrm>
            <a:off x="3486150" y="1654950"/>
            <a:ext cx="5200650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1A1A1A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Local, easy-to-use AI assistants are the key to unlocking SME productivity. Current enterprise tools are too complex and cloud-dependent for the average small business.</a:t>
            </a:r>
            <a:endParaRPr lang="en-US" sz="942" dirty="0"/>
          </a:p>
        </p:txBody>
      </p:sp>
      <p:sp>
        <p:nvSpPr>
          <p:cNvPr id="16" name="Text 13"/>
          <p:cNvSpPr/>
          <p:nvPr/>
        </p:nvSpPr>
        <p:spPr>
          <a:xfrm>
            <a:off x="3486150" y="2629291"/>
            <a:ext cx="5200650" cy="242888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PRIVACY DEMAND</a:t>
            </a:r>
            <a:endParaRPr lang="en-US" sz="1397" dirty="0"/>
          </a:p>
        </p:txBody>
      </p:sp>
      <p:sp>
        <p:nvSpPr>
          <p:cNvPr id="17" name="Text 14"/>
          <p:cNvSpPr/>
          <p:nvPr/>
        </p:nvSpPr>
        <p:spPr>
          <a:xfrm>
            <a:off x="3486150" y="2979334"/>
            <a:ext cx="5200650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1A1A1A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Increasing global demand for privacy-compliant and cost-effective AI solutions. SMEs are seeking ways to automate without compromising their sensitive business data.</a:t>
            </a:r>
            <a:endParaRPr lang="en-US" sz="942" dirty="0"/>
          </a:p>
        </p:txBody>
      </p:sp>
      <p:sp>
        <p:nvSpPr>
          <p:cNvPr id="18" name="Text 15"/>
          <p:cNvSpPr/>
          <p:nvPr/>
        </p:nvSpPr>
        <p:spPr>
          <a:xfrm>
            <a:off x="3486150" y="3953675"/>
            <a:ext cx="5200650" cy="242888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UNTAPPED POTENTIAL</a:t>
            </a:r>
            <a:endParaRPr lang="en-US" sz="1397" dirty="0"/>
          </a:p>
        </p:txBody>
      </p:sp>
      <p:sp>
        <p:nvSpPr>
          <p:cNvPr id="19" name="Text 16"/>
          <p:cNvSpPr/>
          <p:nvPr/>
        </p:nvSpPr>
        <p:spPr>
          <a:xfrm>
            <a:off x="3486150" y="4303719"/>
            <a:ext cx="5200650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1A1A1A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Millions of businesses are ready to transition toward AI-driven operations if the barriers of cost and complexity are removed.</a:t>
            </a:r>
            <a:endParaRPr lang="en-US" sz="942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2026-03-25T18:40:47Z</dcterms:created>
  <dcterms:modified xsi:type="dcterms:W3CDTF">2026-03-25T18:40:47Z</dcterms:modified>
</cp:coreProperties>
</file>